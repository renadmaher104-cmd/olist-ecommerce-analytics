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9D6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Sheet1!$A$2:$A$21</c:f>
              <c:multiLvlStrCache>
                <c:ptCount val="20"/>
                <c:lvl>
                  <c:pt idx="0">
                    <c:v>2017-01</c:v>
                  </c:pt>
                  <c:pt idx="1">
                    <c:v>2017-02</c:v>
                  </c:pt>
                  <c:pt idx="2">
                    <c:v>2017-03</c:v>
                  </c:pt>
                  <c:pt idx="3">
                    <c:v>2017-04</c:v>
                  </c:pt>
                  <c:pt idx="4">
                    <c:v>2017-05</c:v>
                  </c:pt>
                  <c:pt idx="5">
                    <c:v>2017-06</c:v>
                  </c:pt>
                  <c:pt idx="6">
                    <c:v>2017-07</c:v>
                  </c:pt>
                  <c:pt idx="7">
                    <c:v>2017-08</c:v>
                  </c:pt>
                  <c:pt idx="8">
                    <c:v>2017-09</c:v>
                  </c:pt>
                  <c:pt idx="9">
                    <c:v>2017-10</c:v>
                  </c:pt>
                  <c:pt idx="10">
                    <c:v>2017-11</c:v>
                  </c:pt>
                  <c:pt idx="11">
                    <c:v>2017-12</c:v>
                  </c:pt>
                  <c:pt idx="12">
                    <c:v>2018-01</c:v>
                  </c:pt>
                  <c:pt idx="13">
                    <c:v>2018-02</c:v>
                  </c:pt>
                  <c:pt idx="14">
                    <c:v>2018-03</c:v>
                  </c:pt>
                  <c:pt idx="15">
                    <c:v>2018-04</c:v>
                  </c:pt>
                  <c:pt idx="16">
                    <c:v>2018-05</c:v>
                  </c:pt>
                  <c:pt idx="17">
                    <c:v>2018-06</c:v>
                  </c:pt>
                  <c:pt idx="18">
                    <c:v>2018-07</c:v>
                  </c:pt>
                  <c:pt idx="19">
                    <c:v>2018-08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750</c:v>
                </c:pt>
                <c:pt idx="1">
                  <c:v>1653</c:v>
                </c:pt>
                <c:pt idx="2">
                  <c:v>2546</c:v>
                </c:pt>
                <c:pt idx="3">
                  <c:v>2303</c:v>
                </c:pt>
                <c:pt idx="4">
                  <c:v>3546</c:v>
                </c:pt>
                <c:pt idx="5">
                  <c:v>3135</c:v>
                </c:pt>
                <c:pt idx="6">
                  <c:v>3872</c:v>
                </c:pt>
                <c:pt idx="7">
                  <c:v>4193</c:v>
                </c:pt>
                <c:pt idx="8">
                  <c:v>4150</c:v>
                </c:pt>
                <c:pt idx="9">
                  <c:v>4478</c:v>
                </c:pt>
                <c:pt idx="10">
                  <c:v>7289</c:v>
                </c:pt>
                <c:pt idx="11">
                  <c:v>5513</c:v>
                </c:pt>
                <c:pt idx="12">
                  <c:v>7069</c:v>
                </c:pt>
                <c:pt idx="13">
                  <c:v>6555</c:v>
                </c:pt>
                <c:pt idx="14">
                  <c:v>7003</c:v>
                </c:pt>
                <c:pt idx="15">
                  <c:v>6798</c:v>
                </c:pt>
                <c:pt idx="16">
                  <c:v>6749</c:v>
                </c:pt>
                <c:pt idx="17">
                  <c:v>6099</c:v>
                </c:pt>
                <c:pt idx="18">
                  <c:v>6159</c:v>
                </c:pt>
                <c:pt idx="19">
                  <c:v>6351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(R$ thousands)</c:v>
                </c:pt>
              </c:strCache>
            </c:strRef>
          </c:tx>
          <c:spPr>
            <a:solidFill>
              <a:srgbClr val="00A19A"/>
            </a:solidFill>
            <a:ln w="31750" cap="flat">
              <a:solidFill>
                <a:srgbClr val="00A1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0A19A"/>
              </a:solidFill>
              <a:ln w="9525" cap="flat">
                <a:solidFill>
                  <a:srgbClr val="00A1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2017-01</c:v>
                  </c:pt>
                  <c:pt idx="1">
                    <c:v>2017-02</c:v>
                  </c:pt>
                  <c:pt idx="2">
                    <c:v>2017-03</c:v>
                  </c:pt>
                  <c:pt idx="3">
                    <c:v>2017-04</c:v>
                  </c:pt>
                  <c:pt idx="4">
                    <c:v>2017-05</c:v>
                  </c:pt>
                  <c:pt idx="5">
                    <c:v>2017-06</c:v>
                  </c:pt>
                  <c:pt idx="6">
                    <c:v>2017-07</c:v>
                  </c:pt>
                  <c:pt idx="7">
                    <c:v>2017-08</c:v>
                  </c:pt>
                  <c:pt idx="8">
                    <c:v>2017-09</c:v>
                  </c:pt>
                  <c:pt idx="9">
                    <c:v>2017-10</c:v>
                  </c:pt>
                  <c:pt idx="10">
                    <c:v>2017-11</c:v>
                  </c:pt>
                  <c:pt idx="11">
                    <c:v>2017-12</c:v>
                  </c:pt>
                  <c:pt idx="12">
                    <c:v>2018-01</c:v>
                  </c:pt>
                  <c:pt idx="13">
                    <c:v>2018-02</c:v>
                  </c:pt>
                  <c:pt idx="14">
                    <c:v>2018-03</c:v>
                  </c:pt>
                  <c:pt idx="15">
                    <c:v>2018-04</c:v>
                  </c:pt>
                  <c:pt idx="16">
                    <c:v>2018-05</c:v>
                  </c:pt>
                  <c:pt idx="17">
                    <c:v>2018-06</c:v>
                  </c:pt>
                  <c:pt idx="18">
                    <c:v>2018-07</c:v>
                  </c:pt>
                  <c:pt idx="19">
                    <c:v>2018-08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127</c:v>
                </c:pt>
                <c:pt idx="1">
                  <c:v>271</c:v>
                </c:pt>
                <c:pt idx="2">
                  <c:v>414</c:v>
                </c:pt>
                <c:pt idx="3">
                  <c:v>391</c:v>
                </c:pt>
                <c:pt idx="4">
                  <c:v>567</c:v>
                </c:pt>
                <c:pt idx="5">
                  <c:v>490</c:v>
                </c:pt>
                <c:pt idx="6">
                  <c:v>566</c:v>
                </c:pt>
                <c:pt idx="7">
                  <c:v>646</c:v>
                </c:pt>
                <c:pt idx="8">
                  <c:v>701</c:v>
                </c:pt>
                <c:pt idx="9">
                  <c:v>751</c:v>
                </c:pt>
                <c:pt idx="10">
                  <c:v>1153</c:v>
                </c:pt>
                <c:pt idx="11">
                  <c:v>843</c:v>
                </c:pt>
                <c:pt idx="12">
                  <c:v>1078</c:v>
                </c:pt>
                <c:pt idx="13">
                  <c:v>966</c:v>
                </c:pt>
                <c:pt idx="14">
                  <c:v>1121</c:v>
                </c:pt>
                <c:pt idx="15">
                  <c:v>1133</c:v>
                </c:pt>
                <c:pt idx="16">
                  <c:v>1129</c:v>
                </c:pt>
                <c:pt idx="17">
                  <c:v>1012</c:v>
                </c:pt>
                <c:pt idx="18">
                  <c:v>1028</c:v>
                </c:pt>
                <c:pt idx="19">
                  <c:v>985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2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R$ thousands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623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 thousands)</c:v>
                </c:pt>
              </c:strCache>
            </c:strRef>
          </c:tx>
          <c:spPr>
            <a:solidFill>
              <a:srgbClr val="00A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Health Beauty</c:v>
                  </c:pt>
                  <c:pt idx="1">
                    <c:v>Watches Gifts</c:v>
                  </c:pt>
                  <c:pt idx="2">
                    <c:v>Bed Bath Table</c:v>
                  </c:pt>
                  <c:pt idx="3">
                    <c:v>Sports Leisure</c:v>
                  </c:pt>
                  <c:pt idx="4">
                    <c:v>Computers Access.</c:v>
                  </c:pt>
                  <c:pt idx="5">
                    <c:v>Furniture Decor</c:v>
                  </c:pt>
                  <c:pt idx="6">
                    <c:v>Housewares</c:v>
                  </c:pt>
                  <c:pt idx="7">
                    <c:v>Cool Stuff</c:v>
                  </c:pt>
                  <c:pt idx="8">
                    <c:v>Auto</c:v>
                  </c:pt>
                  <c:pt idx="9">
                    <c:v>Toys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1233</c:v>
                </c:pt>
                <c:pt idx="1">
                  <c:v>1166</c:v>
                </c:pt>
                <c:pt idx="2">
                  <c:v>1023</c:v>
                </c:pt>
                <c:pt idx="3">
                  <c:v>955</c:v>
                </c:pt>
                <c:pt idx="4">
                  <c:v>889</c:v>
                </c:pt>
                <c:pt idx="5">
                  <c:v>712</c:v>
                </c:pt>
                <c:pt idx="6">
                  <c:v>616</c:v>
                </c:pt>
                <c:pt idx="7">
                  <c:v>610</c:v>
                </c:pt>
                <c:pt idx="8">
                  <c:v>579</c:v>
                </c:pt>
                <c:pt idx="9">
                  <c:v>471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F2F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 thousands)</c:v>
                </c:pt>
              </c:strCache>
            </c:strRef>
          </c:tx>
          <c:spPr>
            <a:solidFill>
              <a:srgbClr val="133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SP</c:v>
                  </c:pt>
                  <c:pt idx="1">
                    <c:v>RJ</c:v>
                  </c:pt>
                  <c:pt idx="2">
                    <c:v>MG</c:v>
                  </c:pt>
                  <c:pt idx="3">
                    <c:v>RS</c:v>
                  </c:pt>
                  <c:pt idx="4">
                    <c:v>PR</c:v>
                  </c:pt>
                  <c:pt idx="5">
                    <c:v>SC</c:v>
                  </c:pt>
                  <c:pt idx="6">
                    <c:v>BA</c:v>
                  </c:pt>
                  <c:pt idx="7">
                    <c:v>DF</c:v>
                  </c:pt>
                  <c:pt idx="8">
                    <c:v>ES</c:v>
                  </c:pt>
                  <c:pt idx="9">
                    <c:v>GO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5770</c:v>
                </c:pt>
                <c:pt idx="1">
                  <c:v>2055</c:v>
                </c:pt>
                <c:pt idx="2">
                  <c:v>1819</c:v>
                </c:pt>
                <c:pt idx="3">
                  <c:v>861</c:v>
                </c:pt>
                <c:pt idx="4">
                  <c:v>782</c:v>
                </c:pt>
                <c:pt idx="5">
                  <c:v>595</c:v>
                </c:pt>
                <c:pt idx="6">
                  <c:v>591</c:v>
                </c:pt>
                <c:pt idx="7">
                  <c:v>346</c:v>
                </c:pt>
                <c:pt idx="8">
                  <c:v>318</c:v>
                </c:pt>
                <c:pt idx="9">
                  <c:v>334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EF2F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GMV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19A"/>
              </a:solidFill>
              <a:effectLst/>
            </c:spPr>
          </c:dPt>
          <c:dPt>
            <c:idx val="1"/>
            <c:bubble3D val="0"/>
            <c:spPr>
              <a:solidFill>
                <a:srgbClr val="F2B134"/>
              </a:solidFill>
              <a:effectLst/>
            </c:spPr>
          </c:dPt>
          <c:dPt>
            <c:idx val="2"/>
            <c:bubble3D val="0"/>
            <c:spPr>
              <a:solidFill>
                <a:srgbClr val="13355E"/>
              </a:solidFill>
              <a:effectLst/>
            </c:spPr>
          </c:dPt>
          <c:dPt>
            <c:idx val="3"/>
            <c:bubble3D val="0"/>
            <c:spPr>
              <a:solidFill>
                <a:srgbClr val="E4572E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Credit Card</c:v>
                </c:pt>
                <c:pt idx="1">
                  <c:v>Boleto</c:v>
                </c:pt>
                <c:pt idx="2">
                  <c:v>Voucher</c:v>
                </c:pt>
                <c:pt idx="3">
                  <c:v>Debit Card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78.3</c:v>
                </c:pt>
                <c:pt idx="1">
                  <c:v>17.9</c:v>
                </c:pt>
                <c:pt idx="2">
                  <c:v>2.4</c:v>
                </c:pt>
                <c:pt idx="3">
                  <c:v>1.4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23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reviews %</c:v>
                </c:pt>
              </c:strCache>
            </c:strRef>
          </c:tx>
          <c:spPr>
            <a:solidFill>
              <a:srgbClr val="00A19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1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FBF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B13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9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5 Stars</c:v>
                  </c:pt>
                  <c:pt idx="1">
                    <c:v>4 Stars</c:v>
                  </c:pt>
                  <c:pt idx="2">
                    <c:v>3 Stars</c:v>
                  </c:pt>
                  <c:pt idx="3">
                    <c:v>2 Stars</c:v>
                  </c:pt>
                  <c:pt idx="4">
                    <c:v>1 Star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57.8</c:v>
                </c:pt>
                <c:pt idx="1">
                  <c:v>19.3</c:v>
                </c:pt>
                <c:pt idx="2">
                  <c:v>8.2</c:v>
                </c:pt>
                <c:pt idx="3">
                  <c:v>3.2</c:v>
                </c:pt>
                <c:pt idx="4">
                  <c:v>11.5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F2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108960"/>
            <a:ext cx="5029200" cy="5029200"/>
          </a:xfrm>
          <a:prstGeom prst="ellipse">
            <a:avLst/>
          </a:prstGeom>
          <a:solidFill>
            <a:srgbClr val="13355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3200400" cy="3200400"/>
          </a:xfrm>
          <a:prstGeom prst="ellipse">
            <a:avLst/>
          </a:prstGeom>
          <a:solidFill>
            <a:srgbClr val="1B4A80"/>
          </a:solidFill>
          <a:ln/>
        </p:spPr>
      </p:sp>
      <p:sp>
        <p:nvSpPr>
          <p:cNvPr id="4" name="Shape 2"/>
          <p:cNvSpPr/>
          <p:nvPr/>
        </p:nvSpPr>
        <p:spPr>
          <a:xfrm>
            <a:off x="10515600" y="4846320"/>
            <a:ext cx="1554480" cy="1554480"/>
          </a:xfrm>
          <a:prstGeom prst="ellipse">
            <a:avLst/>
          </a:prstGeom>
          <a:solidFill>
            <a:srgbClr val="00A1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&amp; LOGISTICS INTELLIGENCE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E-Commerce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Performance Review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21792" y="4160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sales momentum, category economics, regional logistics,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and customer satisfaction across the full transaction history.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JANUARY 2017 – AUGUST 2018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headline metrics spanning revenue, delivery, and customer experience — the full dataset in one 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2082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F2B134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67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(GMV)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13232" y="258775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R$ 15.42M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317296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2017 – Aug 2018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55264" y="187452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9856" y="202082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2167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19856" y="258775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96,478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19856" y="317296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transactions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61888" y="187452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202082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F2B134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167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258775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96,096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317296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buyer base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68512" y="187452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33104" y="202082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F2B134"/>
          </a:solidFill>
          <a:ln/>
        </p:spPr>
      </p:sp>
      <p:sp>
        <p:nvSpPr>
          <p:cNvPr id="22" name="Text 20"/>
          <p:cNvSpPr/>
          <p:nvPr/>
        </p:nvSpPr>
        <p:spPr>
          <a:xfrm>
            <a:off x="8833104" y="216712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33104" y="258775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R$ 159.83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833104" y="317296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01952" y="379476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66544" y="394106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E4572E"/>
          </a:solidFill>
          <a:ln/>
        </p:spPr>
      </p:sp>
      <p:sp>
        <p:nvSpPr>
          <p:cNvPr id="27" name="Text 25"/>
          <p:cNvSpPr/>
          <p:nvPr/>
        </p:nvSpPr>
        <p:spPr>
          <a:xfrm>
            <a:off x="2066544" y="408736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66544" y="45079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 Days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066544" y="509320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to doorstep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08576" y="379476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394106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00A19A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408736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3168" y="45079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73168" y="509320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or beat estimate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379476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9792" y="3941064"/>
            <a:ext cx="457200" cy="82296"/>
          </a:xfrm>
          <a:prstGeom prst="roundRect">
            <a:avLst>
              <a:gd name="adj" fmla="val 44444"/>
            </a:avLst>
          </a:prstGeom>
          <a:solidFill>
            <a:srgbClr val="F2B134"/>
          </a:solidFill>
          <a:ln/>
        </p:spPr>
      </p:sp>
      <p:sp>
        <p:nvSpPr>
          <p:cNvPr id="37" name="Text 35"/>
          <p:cNvSpPr/>
          <p:nvPr/>
        </p:nvSpPr>
        <p:spPr>
          <a:xfrm>
            <a:off x="7479792" y="4087368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CSAT RATING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79792" y="450799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4.16 / 5.0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79792" y="509320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 |  EXECUTIVE PERFORMANCE REVIEW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1 · SALES TREND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&amp; Order Growth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~7x from R$127K (Jan 2017) to a peak of R$1.15M (Nov 2017 — Black Friday effect), then stabilized around R$1.0–1.1M/month through Aug 2018.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 |  EXECUTIVE PERFORMANCE REVIEW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2 · CATEGORY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Product Categories by Revenue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7040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417320"/>
            <a:ext cx="3794760" cy="4663440"/>
          </a:xfrm>
          <a:prstGeom prst="roundRect">
            <a:avLst>
              <a:gd name="adj" fmla="val 1928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2440" y="1645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92440" y="205740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leads with R$1.23M (9.3% of GMV) and a strong 4.19 CSAT.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&amp; Gifts has the highest average ticket at R$199 — a premium, low-frequency category.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Bath Table sells the most units (10,953) but at the lowest average price (R$93), and the weakest CSAT (3.92) of the top 5.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categories together account for over 55% of total GMV — a concentrated, manageable core catalog.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 |  EXECUTIVE PERFORMANCE REVIEW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3 · REGIONAL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States by Revenue &amp; Delivery Reach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5778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customer state (R$, thousands) — São Paulo (SP) alone drives 42% of national GMV.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818120" y="1417320"/>
            <a:ext cx="3794760" cy="4663440"/>
          </a:xfrm>
          <a:prstGeom prst="roundRect">
            <a:avLst>
              <a:gd name="adj" fmla="val 1928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645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SIGNAL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05740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ships in 8.8 days on average with 94.1% on-time — the logistics benchmark.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&amp; Northeast states (BA, PE, CE, PA) see 18–24 day delivery windows and on-time rates below 88%.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rises sharply with distance: ~R$17 (SP) vs. R$36–48 in remote Northern states.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Southeast + South regions generate ~78% of revenue from ~73% of orders — the core operating footprint.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 |  EXECUTIVE PERFORMANCE REVIEW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4 · PAYMENT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Customers Pay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46304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508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MIX AT A GLANCE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0" y="1965960"/>
            <a:ext cx="5212080" cy="896112"/>
          </a:xfrm>
          <a:prstGeom prst="roundRect">
            <a:avLst>
              <a:gd name="adj" fmla="val 612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01968" y="2185416"/>
            <a:ext cx="128016" cy="457200"/>
          </a:xfrm>
          <a:prstGeom prst="rect">
            <a:avLst/>
          </a:prstGeom>
          <a:solidFill>
            <a:srgbClr val="00A19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0" y="24048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76,795 txns   ·   R$ 163.32 avg ticket   ·   3.5 installments avg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2999232"/>
            <a:ext cx="5212080" cy="896112"/>
          </a:xfrm>
          <a:prstGeom prst="roundRect">
            <a:avLst>
              <a:gd name="adj" fmla="val 612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3218688"/>
            <a:ext cx="128016" cy="457200"/>
          </a:xfrm>
          <a:prstGeom prst="rect">
            <a:avLst/>
          </a:prstGeom>
          <a:solidFill>
            <a:srgbClr val="F2B134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30906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Boleto (bank slip)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0" y="34381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19,784 txns   ·   R$ 145.03 avg ticket   ·   Single payment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0" y="4032504"/>
            <a:ext cx="5212080" cy="896112"/>
          </a:xfrm>
          <a:prstGeom prst="roundRect">
            <a:avLst>
              <a:gd name="adj" fmla="val 612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4251960"/>
            <a:ext cx="128016" cy="457200"/>
          </a:xfrm>
          <a:prstGeom prst="rect">
            <a:avLst/>
          </a:prstGeom>
          <a:solidFill>
            <a:srgbClr val="133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41239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58000" y="44714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5,775 txns   ·   R$ 65.70 avg ticket   ·   Single payment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0" y="5065776"/>
            <a:ext cx="5212080" cy="896112"/>
          </a:xfrm>
          <a:prstGeom prst="roundRect">
            <a:avLst>
              <a:gd name="adj" fmla="val 6122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5285232"/>
            <a:ext cx="128016" cy="45720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5157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58000" y="55046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1,529 txns   ·   R$ 142.57 avg ticket   ·   Single payment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 |  EXECUTIVE PERFORMANCE REVIEW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5 · REVIEWS &amp; CSAT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Rating Distribution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all reviews are 4–5 stars, but 1-star reviews (11.5%) still outnumber 2-star and 3-star combined.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818120" y="1463040"/>
            <a:ext cx="3794760" cy="4617720"/>
          </a:xfrm>
          <a:prstGeom prst="roundRect">
            <a:avLst>
              <a:gd name="adj" fmla="val 1928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16916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RATING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103120"/>
            <a:ext cx="32461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 reviews come with a written comment 76.5% of the time — customers explain dissatisfaction in detail.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 are commented on just 35.9% of the time — happy customers stay quieter.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average: 4.16 / 5.0 across 99,224 reviews — a healthy but improvable baseline.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 |  EXECUTIVE PERFORMANCE REVIEW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CROSS-REPORT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Speed Is the #1 Driver of Satisfaction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1A2E4D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2.57 / 5.0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CSAT rating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4572000" cy="0"/>
          </a:xfrm>
          <a:prstGeom prst="line">
            <a:avLst/>
          </a:prstGeom>
          <a:noFill/>
          <a:ln w="12700">
            <a:solidFill>
              <a:srgbClr val="3551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6052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7,826 orders (8.1% of total)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 days average delivery time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Severe dissatisfaction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920240"/>
            <a:ext cx="5120640" cy="3931920"/>
          </a:xfrm>
          <a:prstGeom prst="roundRect">
            <a:avLst>
              <a:gd name="adj" fmla="val 2326"/>
            </a:avLst>
          </a:prstGeom>
          <a:solidFill>
            <a:srgbClr val="1A2E4D"/>
          </a:solidFill>
          <a:ln w="19050">
            <a:solidFill>
              <a:srgbClr val="00A1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/ EARLY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2606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4.29 / 5.0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72084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CSAT rating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20840" y="3977640"/>
            <a:ext cx="4572000" cy="0"/>
          </a:xfrm>
          <a:prstGeom prst="line">
            <a:avLst/>
          </a:prstGeom>
          <a:noFill/>
          <a:ln w="12700">
            <a:solidFill>
              <a:srgbClr val="3551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416052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88,652 orders (91.9% of total)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 days average delivery time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 High satisfaction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 delivery costs -1.72 CSAT points on average — the single largest swing factor in the entire dataset.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Focus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45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9808" y="213055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on-time delivery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62432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orders drop CSAT by 1.7 points. Prioritize carrier SLAs and buffer stock in Northeast/North states where delivery exceeds 18 days.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645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53128" y="213055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Southeast core, invest in the North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453128" y="262432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alone drives 42% of GMV. Test regional fulfillment hubs to cut the 25–45 day delivery windows seen in PA, AM, and RR.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50876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6448" y="1645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56448" y="213055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top categories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156448" y="262432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and Watches &amp; Gifts combine strong revenue with high CSAT — prioritize them in merchandising and promotions.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9808" y="450799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credit card financing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808" y="500176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already drives 78% of GMV at 3.5 installments avg — test higher installment caps to lift average ticket size further.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453128" y="450799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delivery-driven complaint gap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453128" y="500176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of 1-star reviews include a comment — mine this text for recurring delivery and product-quality themes.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886200"/>
            <a:ext cx="3520440" cy="2148840"/>
          </a:xfrm>
          <a:prstGeom prst="roundRect">
            <a:avLst>
              <a:gd name="adj" fmla="val 3404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156448" y="4507992"/>
            <a:ext cx="3118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Black Friday momentum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56448" y="5001768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revenue spiked to R$1.15M. Plan seasonal campaigns and inventory around this proven demand surge.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 |  EXECUTIVE PERFORMANCE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3355E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1B4A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OLIST_ECOMMERCE_ANALYTICS_REPORT.XLSX  |  JAN 2017 – AUG 2018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2026-09-07T23:18:28Z</dcterms:created>
  <dcterms:modified xsi:type="dcterms:W3CDTF">2026-09-07T23:18:28Z</dcterms:modified>
</cp:coreProperties>
</file>