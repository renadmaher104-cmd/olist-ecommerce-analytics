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284C7"/>
                </a:solidFill>
              </a:defRPr>
            </a:pPr>
            <a:r>
              <a:t>EXECUTIVE BUSINESS INTELLIGENCE REPORT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t>Brazilian E-Commerce (Olist)</a:t>
            </a:r>
            <a:br/>
            <a:r>
              <a:t>Data Analytics &amp; Strategic Insights</a:t>
            </a:r>
          </a:p>
          <a:p>
            <a:pPr>
              <a:defRPr sz="1600">
                <a:solidFill>
                  <a:srgbClr val="CBD5E1"/>
                </a:solidFill>
              </a:defRPr>
            </a:pPr>
            <a:r>
              <a:t>تحليل شامل للبيانات: تنظيف البيانات، مؤشرات الأداء الرئيسية، وسلوك العملاء، وتوصيات النمو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1. What is the Data? | فهم طبيعة وقصة البيانات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Overview of Olist Brazilian Marketplace &amp; Dataset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3383280" cy="51206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🛒 ما هي منصة Olist؟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منصة تجارة إلكترونية برازيلية رائدة تربط بين آلاف البائعين المستقلين وملايين المشترين في البرازيل.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تتولى المنصة إدارة الطلبات، عمليات الدفع، متابعة الشحن، وتقييمات العملاء.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البيانات تغطي الفترة من 2016 إلى 2018 بإجمالي أكثر من 100 ألف طلب تجاري.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80" y="1280160"/>
            <a:ext cx="3383280" cy="51206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🔗 الجداول الـ 9 المترابطة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1. Orders (الطلبات وحالات الشحن ومواعيد التوصيل)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2. Order Items (المنتجات وسعر كل منتج ومصاريف الشحن)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3. Products (كتالوج المنتجات وتصنيفاتها وأبعادها)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4. Payments (طرق الدفع والأقساط وقيم المبيعات)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5. Reviews (تقييمات العملاء 1-5 نجوم وتعليقاتهم)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6. Customers &amp; Sellers (بيانات المشترين والبائعين والمدن)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7. Geolocation &amp; Translation (الترجمة الإنجليزية والإحداثيات)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280160"/>
            <a:ext cx="3383280" cy="51206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🧹 ما قمنا بتنظيفه بالبايثون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تحويل جميع التواريخ ومعالجة القيم المفقودة واستخراج شهور وسنوات الشراء.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حساب سرعة الشحن الفعلية وتحديد الطلبات المتأخرة عن موعدها بدقة.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ترجمة كافة تصنيفات المنتجات من البرتغالية للإنجليزية ومعالجة غير المصنف.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دمج وتجميع طرق الدفع والأقساط المتعددة على مستوى كل طلب.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دمج الجداول في جدول تحليلي رئيسي موحد Master Dataset.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2. Executive KPI Dashboard | لوحة المؤشرات الرئيسية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High-Level Business Performance &amp; Vital Health Metrics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347472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إجمالي الإيرادات (TOTAL GMV)</a:t>
            </a:r>
          </a:p>
          <a:p>
            <a:pPr algn="ctr">
              <a:defRPr sz="2000" b="1">
                <a:solidFill>
                  <a:srgbClr val="0284C7"/>
                </a:solidFill>
              </a:defRPr>
            </a:pPr>
            <a:r>
              <a:t>R$ 15.42 Million</a:t>
            </a:r>
          </a:p>
          <a:p>
            <a:pPr algn="ctr">
              <a:defRPr sz="950">
                <a:solidFill>
                  <a:srgbClr val="1E293B"/>
                </a:solidFill>
              </a:defRPr>
            </a:pPr>
            <a:r>
              <a:t>إجمالي قيمة المبيعات المكتملة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43400" y="1280160"/>
            <a:ext cx="347472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الطلبات المسلمة بنجاح</a:t>
            </a:r>
          </a:p>
          <a:p>
            <a:pPr algn="ctr">
              <a:defRPr sz="2000" b="1">
                <a:solidFill>
                  <a:srgbClr val="0F172A"/>
                </a:solidFill>
              </a:defRPr>
            </a:pPr>
            <a:r>
              <a:t>96,478 Orders</a:t>
            </a:r>
          </a:p>
          <a:p>
            <a:pPr algn="ctr">
              <a:defRPr sz="950">
                <a:solidFill>
                  <a:srgbClr val="1E293B"/>
                </a:solidFill>
              </a:defRPr>
            </a:pPr>
            <a:r>
              <a:t>97.0% نسبة نجاح توصيل الطلبات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1280160"/>
            <a:ext cx="347472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عدد العملاء الفريدين</a:t>
            </a:r>
          </a:p>
          <a:p>
            <a:pPr algn="ctr">
              <a:defRPr sz="2000" b="1">
                <a:solidFill>
                  <a:srgbClr val="0F172A"/>
                </a:solidFill>
              </a:defRPr>
            </a:pPr>
            <a:r>
              <a:t>96,096 Customers</a:t>
            </a:r>
          </a:p>
          <a:p>
            <a:pPr algn="ctr">
              <a:defRPr sz="950">
                <a:solidFill>
                  <a:srgbClr val="1E293B"/>
                </a:solidFill>
              </a:defRPr>
            </a:pPr>
            <a:r>
              <a:t>قاعدة عملاء واسعة ومتنوعة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834640"/>
            <a:ext cx="347472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متوسط قيمة الطلب (AOV)</a:t>
            </a:r>
          </a:p>
          <a:p>
            <a:pPr algn="ctr">
              <a:defRPr sz="2000" b="1">
                <a:solidFill>
                  <a:srgbClr val="0284C7"/>
                </a:solidFill>
              </a:defRPr>
            </a:pPr>
            <a:r>
              <a:t>R$ 159.83</a:t>
            </a:r>
          </a:p>
          <a:p>
            <a:pPr algn="ctr">
              <a:defRPr sz="950">
                <a:solidFill>
                  <a:srgbClr val="1E293B"/>
                </a:solidFill>
              </a:defRPr>
            </a:pPr>
            <a:r>
              <a:t>Average Order Value للسلة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2834640"/>
            <a:ext cx="347472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متوسط سرعة التوصيل</a:t>
            </a:r>
          </a:p>
          <a:p>
            <a:pPr algn="ctr">
              <a:defRPr sz="2000" b="1">
                <a:solidFill>
                  <a:srgbClr val="F59E0B"/>
                </a:solidFill>
              </a:defRPr>
            </a:pPr>
            <a:r>
              <a:t>12.6 Days</a:t>
            </a:r>
          </a:p>
          <a:p>
            <a:pPr algn="ctr">
              <a:defRPr sz="950">
                <a:solidFill>
                  <a:srgbClr val="1E293B"/>
                </a:solidFill>
              </a:defRPr>
            </a:pPr>
            <a:r>
              <a:t>زمن وصول الشحنة من الشراء للباب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2834640"/>
            <a:ext cx="347472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نسبة التوصيل في الموعد</a:t>
            </a:r>
          </a:p>
          <a:p>
            <a:pPr algn="ctr">
              <a:defRPr sz="2000" b="1">
                <a:solidFill>
                  <a:srgbClr val="10B981"/>
                </a:solidFill>
              </a:defRPr>
            </a:pPr>
            <a:r>
              <a:t>91.9% On-Time</a:t>
            </a:r>
          </a:p>
          <a:p>
            <a:pPr algn="ctr">
              <a:defRPr sz="950">
                <a:solidFill>
                  <a:srgbClr val="1E293B"/>
                </a:solidFill>
              </a:defRPr>
            </a:pPr>
            <a:r>
              <a:t>التزام بجدول التوصيل التقديري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389120"/>
            <a:ext cx="1106424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📌 ملخص الأداء التنفيذي السريع: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✔ نمو قوي ومستمر في حجم المبيعات والإيرادات الشهرية خلال 2017 و2018.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✔ أداء لوجستي جيد بنسبة التزام 91.9%، لكن الطلبات المتأخرة (8.1%) تمثل المصدر الأكبر لشكاوى وتقييمات العملاء السلبية.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✔ رضا عام إيجابي بمعدل 4.16 / 5.0 مع تركز 77.1% من التقييمات في فئتي 4 و5 نجوم.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3. Sales &amp; Revenue Trajectory | اتجاهات المبيعات والنمو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Report 1: Monthly Trends, Seasonality Spikes &amp; Basket Dynamics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5303520" cy="51206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📈 قراءة حركة المبيعات والإيرادات: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البداية (يناير 2017): انطلقت المبيعات بـ 750 طلب بإيراد 120 ألف ريال برازيلي.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الذروة والنمو السريع: تضاعفت المبيعات تدريجياً حتى وصلت لأكثر من 7,000 طلب شهرياً بإيراد تخطى 1.1 مليون ريال شهرياً في 2018.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طفرة البلاك فرايداي (نوفمبر 2017): قفزة قياسية بأكثر من 7,200 طلب وإيراد 1.15 مليون ريال نتيجة العروض الموسمية.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حصة الشحن (Freight Share): تمثل مصاريف الشحن ما بين 15% إلى 17% من إجمالي قيمة ما يدفعه العميل.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1280160"/>
          <a:ext cx="54864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188720"/>
                <a:gridCol w="1554480"/>
                <a:gridCol w="1371600"/>
              </a:tblGrid>
              <a:tr h="762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الفترة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الطلبات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الإيرادات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AOV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2017-01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R$ 120,312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R$ 160.42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2017-07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3,872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R$ 592,302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R$ 152.97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2017-11 (BF)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7,289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R$ 1,153,393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R$ 158.24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2018-03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7,003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R$ 1,119,654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R$ 159.88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2018-08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6,351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R$ 985,414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R$ 155.16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4. Product Category Merchandising | أداء فئات المنتجات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Report 2: Top Revenue Drivers, Units Sold &amp; Category Ratings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642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463040"/>
                <a:gridCol w="2011680"/>
                <a:gridCol w="1463040"/>
                <a:gridCol w="1645920"/>
                <a:gridCol w="1737360"/>
              </a:tblGrid>
              <a:tr h="48768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تصنيف المنتج (Category)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القطع المباعة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إجمالي الإيراد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الحصة من المبيعات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متوسط السعر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تقييم العملاء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Health &amp; Beauty (الصحة والجمال)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9,670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R$ 1,258,681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R$ 130.16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4.14 ⭐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Watches &amp; Gifts (الساعات والهدايا)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5,624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R$ 1,205,005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8.9%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R$ 201.99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4.02 ⭐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Bed Bath Table (المفروشات والمنزل)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11,115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R$ 1,036,988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7.7%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R$ 93.30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3.88 ⭐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Sports Leisure (الرياضة والترفيه)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8,641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R$ 988,048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R$ 114.34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4.11 ⭐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Computers Accessories (إلكترونيات)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7,827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R$ 911,954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R$ 116.51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3.93 ⭐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548640" y="4480560"/>
            <a:ext cx="11064240" cy="19202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💡 أهم الملاحظات على المنتجات: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✔ الصحة والجمال والساعات هما القائدان في توليد الأرباح بأعلى إيرادات وأسعار متوسطة مرتفعة.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✔ قسم المفروشات (Bed Bath Table) هو الأكثر مبيعاً من حيث عدد القطع (11,115 قطعة) ولكنه يسجل تقييماً أقل (3.88) بسبب توقعات خامات الأقمشة.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✔ أعلى 5 فئات منتجات تمثل حوالي 40% من إجمالي مبيعات المنصة بالكامل.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5. Regional Demand &amp; Logistics | التوزيع الجغرافي والشحن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Report 3: State-by-State Volumes, Transit Speeds &amp; Delivery Bottlenecks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5303520" cy="51206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🏙️ تركز الطلب في الجنوب الشرقي (Southeast):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ولاية ساو باولو (SP): تستحوذ بمفردها على 41.7% من إجمالي طلبات البرازيل (40,244 طلب).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سرعة الشحن في SP: الأسرع على الإطلاق بمتوسط 8.3 أيام فقط وبنسبة التزام 95.2%.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الولايات المجاورة (RJ, MG): تأتي في المركزين الثاني والثالث بـ 12.8 ألف و 11.3 ألف طلب.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المنطقة الجنوبية والجنوبية الشرقية تمثل معاً أكثر من 78% من حجم التجارة بالكامل.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1280160"/>
            <a:ext cx="5486400" cy="51206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⚠️ التحديات اللوجستية في الشمال والشمال الشرقي: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الولايات البعيدة (RR, AP, AM, AL, MA): يستغرق التوصيل فيها من 24 إلى 29 يوماً في المتوسط.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ارتفاع مصاريف الشحن: تكلفة الشحن للمناطق البعيدة تصل لضعف تكلفة الشحن في ساو باولو (R$ 40+ مقابل R$ 15).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انخفاض نسبة التوصيل في الموعد: تهبط نسبة الالتزام في بعض ولايات الشمال إلى 75%-80% مما يضر بتقييمات العملاء.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فرصة استراتيجية: الحاجة لإنشاء مستودعات توزيع إقليمية (Regional Hubs) لتقليل زمن الشحن.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6. Payment Methods &amp; Financing | طرق الدفع وسلوك التقسيط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Report 4: Payment Shares, Installment Depths &amp; Ticket Sizes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2560320" cy="310896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b="1" sz="1300">
                <a:solidFill>
                  <a:srgbClr val="0F172A"/>
                </a:solidFill>
              </a:defRPr>
            </a:pPr>
            <a:r>
              <a:t>💳 البطاقات الائتمانية</a:t>
            </a:r>
            <a:br/>
            <a:r>
              <a:t>(Credit Card)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الحصة: 75.4% من الإيرادات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القيمة: R$ 12.54 Million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متوسط التقسيط: 3.5 أقساط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متوسط الطلب: R$ 163.32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83280" y="1280160"/>
            <a:ext cx="2560320" cy="31089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b="1" sz="1300">
                <a:solidFill>
                  <a:srgbClr val="0F172A"/>
                </a:solidFill>
              </a:defRPr>
            </a:pPr>
            <a:r>
              <a:t>📄 فواتير بوليتو</a:t>
            </a:r>
            <a:br/>
            <a:r>
              <a:t>(Boleto Bancário)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الحصة: 19.3% من الإيرادات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القيمة: R$ 2.87 Million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دفع كاش مباشر بدون تقسيط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متوسط الطلب: R$ 145.03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280160"/>
            <a:ext cx="2560320" cy="31089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b="1" sz="1300">
                <a:solidFill>
                  <a:srgbClr val="0F172A"/>
                </a:solidFill>
              </a:defRPr>
            </a:pPr>
            <a:r>
              <a:t>🎟️ كوبونات وقسائم</a:t>
            </a:r>
            <a:br/>
            <a:r>
              <a:t>(Voucher)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الحصة: 2.3% من الإيرادات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القيمة: R$ 380 Thousand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تستخدم لتعويض أو خصم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متوسط الطلب: R$ 65.70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52560" y="1280160"/>
            <a:ext cx="2560320" cy="31089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b="1" sz="1300">
                <a:solidFill>
                  <a:srgbClr val="0F172A"/>
                </a:solidFill>
              </a:defRPr>
            </a:pPr>
            <a:r>
              <a:t>💳 بطاقات الخصم</a:t>
            </a:r>
            <a:br/>
            <a:r>
              <a:t>(Debit Card)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الحصة: 1.3% من الإيرادات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القيمة: R$ 218 Thousand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خصم مباشر من الحساب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متوسط الطلب: R$ 142.57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663440"/>
            <a:ext cx="11064240" cy="17373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💡 تحليل سلوك التقسيط لدى المستهلك البرازيلي: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✔ ثقافة التقسيط (Installments) هي المحرك الأول للتجارة الإلكترونية في البرازيل، حيث يقسط المشترون حتى 10 و24 قسطاً للمشتريات ذات القيمة المرتفعة.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✔ توفير خيارات تمويل مرنة بدون فوائد يساهم بشكل مباشر في رفع متوسط سلة المشتريات (AOV).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7. Customer Satisfaction &amp; Reviews | رضا العملاء وتأثير التأخير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Report 5: Rating Breakdown &amp; The Direct Cost of Delivery Delays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5303520" cy="51206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⭐ توزيع تقييمات العملاء (CSAT Breakdown):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⭐⭐⭐⭐⭐ (5 نجوم): 57.8% (57,328 تقييم) - الأغلبية راضية جداً.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⭐⭐⭐⭐ (4 نجوم): 19.3% (19,142 تقييم) - تجربة شراء جيدة جداً.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⭐⭐⭐ (3 نجوم): 8.2% (8,179 تقييم) - تجربة حيادية.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⭐⭐ (نجمتان): 3.2% (3,151 تقييم) - ملاحظات على المنتج أو الشحن.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⭐ (نجمة واحدة): 11.5% (11,424 تقييم) - عملاء غاضبون ومحبطون.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📌 ملاحظة: 70%+ من مقيمي الـ 1 نجمة يكتبون تعليقات شكوى مفصلة.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1280160"/>
            <a:ext cx="5486400" cy="5120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🚨 العلاقة الصادمة بين تأخير الشحن والتقييم: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الطلبات المسلمة في الموعد (On-Time):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 ➔ متوسط التقييم = 4.27 من 5.0 ⭐ (رضا ممتاز).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الطلبات المتأخرة عن الموعد (Delayed):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 ➔ متوسط التقييم = 2.27 من 5.0 ⭐ (انهيار تام للتقييم بمقدار 2.0 نجمة كاملة!).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الخلاصة الإدارية: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 تأخير التوصيل هو العدو الأول لسمعة المنصة ومعدل احتفاظ العملاء (Retention Rate). ضمان الالتزام بالموعد يرفع فوراً التقييم العام للمنصة.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8. Strategic Action Plan | التوصيات وخطة العمل الاستراتيجية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Data-Driven Recommendations for Executive Decision Makers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5303520" cy="23774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b="1" sz="1300">
                <a:solidFill>
                  <a:srgbClr val="0F172A"/>
                </a:solidFill>
              </a:defRPr>
            </a:pPr>
            <a:r>
              <a:t>🚚 1. تحسين الكفاءة اللوجستية والشحن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بناء مراكز فرز ومستودعات إقليمية (Hubs) في ولايات الشمال والشمال الشرقي.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وضع خوارزمية أكثر دقة للمواعيد التقديرية (Estimated Dates) لتفادي مفاجأة العميل بالتأخير.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1280160"/>
            <a:ext cx="5303520" cy="23774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b="1" sz="1300">
                <a:solidFill>
                  <a:srgbClr val="0F172A"/>
                </a:solidFill>
              </a:defRPr>
            </a:pPr>
            <a:r>
              <a:t>🛍️ 2. تحفيز الفئات القيادية وتطوير المفروشات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زيادة الحملات الإعلانية لأقسام الصحة والجمال والساعات لتحقيق هوامش ربح أعلى.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وضع معايير جودة ورقابة للبائعين في قسم المفروشات والمنزل لرفع تقييماته المتراجعة.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931920"/>
            <a:ext cx="5303520" cy="23774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b="1" sz="1300">
                <a:solidFill>
                  <a:srgbClr val="0F172A"/>
                </a:solidFill>
              </a:defRPr>
            </a:pPr>
            <a:r>
              <a:t>💳 3. شراكات التقسيط الترويجي (0% Interest)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عقد شراكات مع البنوك لتقديم تقسيط بدون فوائد على الفئات ذات الأسعار المرتفعة.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إضافة وسائل دفع رقمية سريعة مثل PIX لتقليل الاعتماد على فواتير بوليتو البطيئة.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3931920"/>
            <a:ext cx="5303520" cy="23774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b="1" sz="1300">
                <a:solidFill>
                  <a:srgbClr val="0F172A"/>
                </a:solidFill>
              </a:defRPr>
            </a:pPr>
            <a:r>
              <a:t>⭐ 4. برامج استباقية لمعالجة الشكاوى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إرسال تنبيهات واعتذارات وكوبونات خصم تلقائية لأي شحنة تتأخر قبل أن يكتب العميل تقييماً سلبياً.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مكافأة أفضل البائعين التزاماً بمواعيد الشحن والتغليف الجيد.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484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Thank You! | شكراً لكم</a:t>
            </a:r>
          </a:p>
          <a:p>
            <a:pPr algn="ctr">
              <a:defRPr sz="1800">
                <a:solidFill>
                  <a:srgbClr val="CBD5E1"/>
                </a:solidFill>
              </a:defRPr>
            </a:pPr>
            <a:r>
              <a:t>تم تجهيز كافة التقارير وشيت الإكسيل التفاعلي وملفات البيانات المنظفة بالكامل.</a:t>
            </a:r>
          </a:p>
          <a:p>
            <a:pPr algn="ctr">
              <a:defRPr sz="1400">
                <a:solidFill>
                  <a:srgbClr val="0284C7"/>
                </a:solidFill>
              </a:defRPr>
            </a:pPr>
            <a:r>
              <a:t>الملفات متوفرة في مجلد المشروع وجاهزة للاستخدام والعرض المباشر.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