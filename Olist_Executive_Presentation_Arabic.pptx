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 الشهري (ألف ريال)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Jan-17</c:v>
                </c:pt>
                <c:pt idx="1">
                  <c:v>Mar-17</c:v>
                </c:pt>
                <c:pt idx="2">
                  <c:v>May-17</c:v>
                </c:pt>
                <c:pt idx="3">
                  <c:v>Jul-17</c:v>
                </c:pt>
                <c:pt idx="4">
                  <c:v>Sep-17</c:v>
                </c:pt>
                <c:pt idx="5">
                  <c:v>Nov-17</c:v>
                </c:pt>
                <c:pt idx="6">
                  <c:v>Jan-18</c:v>
                </c:pt>
                <c:pt idx="7">
                  <c:v>Mar-18</c:v>
                </c:pt>
                <c:pt idx="8">
                  <c:v>May-18</c:v>
                </c:pt>
                <c:pt idx="9">
                  <c:v>Jul-18</c:v>
                </c:pt>
                <c:pt idx="10">
                  <c:v>Aug-18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138</c:v>
                </c:pt>
                <c:pt idx="1">
                  <c:v>444</c:v>
                </c:pt>
                <c:pt idx="2">
                  <c:v>593</c:v>
                </c:pt>
                <c:pt idx="3">
                  <c:v>592</c:v>
                </c:pt>
                <c:pt idx="4">
                  <c:v>728</c:v>
                </c:pt>
                <c:pt idx="5">
                  <c:v>1195</c:v>
                </c:pt>
                <c:pt idx="6">
                  <c:v>1115</c:v>
                </c:pt>
                <c:pt idx="7">
                  <c:v>1159</c:v>
                </c:pt>
                <c:pt idx="8">
                  <c:v>1154</c:v>
                </c:pt>
                <c:pt idx="9">
                  <c:v>1066</c:v>
                </c:pt>
                <c:pt idx="10">
                  <c:v>1022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الإيرادات (مليون ريال)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SP</c:v>
                </c:pt>
                <c:pt idx="1">
                  <c:v>RJ</c:v>
                </c:pt>
                <c:pt idx="2">
                  <c:v>MG</c:v>
                </c:pt>
                <c:pt idx="3">
                  <c:v>RS</c:v>
                </c:pt>
                <c:pt idx="4">
                  <c:v>PR</c:v>
                </c:pt>
                <c:pt idx="5">
                  <c:v>SC</c:v>
                </c:pt>
                <c:pt idx="6">
                  <c:v>BA</c:v>
                </c:pt>
                <c:pt idx="7">
                  <c:v>DF</c:v>
                </c:pt>
                <c:pt idx="8">
                  <c:v>GO</c:v>
                </c:pt>
                <c:pt idx="9">
                  <c:v>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5.92</c:v>
                </c:pt>
                <c:pt idx="1">
                  <c:v>2.14</c:v>
                </c:pt>
                <c:pt idx="2">
                  <c:v>1.86</c:v>
                </c:pt>
                <c:pt idx="3">
                  <c:v>0.89</c:v>
                </c:pt>
                <c:pt idx="4">
                  <c:v>0.81</c:v>
                </c:pt>
                <c:pt idx="5">
                  <c:v>0.6</c:v>
                </c:pt>
                <c:pt idx="6">
                  <c:v>0.4</c:v>
                </c:pt>
                <c:pt idx="7">
                  <c:v>0.35</c:v>
                </c:pt>
                <c:pt idx="8">
                  <c:v>0.35</c:v>
                </c:pt>
                <c:pt idx="9">
                  <c:v>0.32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متوسط التقييم (1-5 نجوم)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مبكر &gt;5 أيام</c:v>
                </c:pt>
                <c:pt idx="1">
                  <c:v>مبكر 1-5 أيام</c:v>
                </c:pt>
                <c:pt idx="2">
                  <c:v>متأخر 1-5 أيام</c:v>
                </c:pt>
                <c:pt idx="3">
                  <c:v>متأخر 6-15 يوم</c:v>
                </c:pt>
                <c:pt idx="4">
                  <c:v>متأخر &gt;15 يوم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4.32</c:v>
                </c:pt>
                <c:pt idx="1">
                  <c:v>4.19</c:v>
                </c:pt>
                <c:pt idx="2">
                  <c:v>2.58</c:v>
                </c:pt>
                <c:pt idx="3">
                  <c:v>1.84</c:v>
                </c:pt>
                <c:pt idx="4">
                  <c:v>1.35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0" y="1645920"/>
            <a:ext cx="365760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تقرير تحليلي تنفيذي شامل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تحليل بيانات التجارة الإلكترونية البرازيلية (Olist)</a:t>
            </a:r>
            <a:br/>
            <a:r>
              <a:t>الرؤى الاستراتيجية ومؤشرات الأداء التنفيذية</a:t>
            </a:r>
          </a:p>
          <a:p>
            <a:pPr algn="r">
              <a:spcBef>
                <a:spcPts val="1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تحليل شامل لأكثر من 100,000 طلب تجاري: مسار النمو، الكفاءة اللوجستية، رضا العملاء، والقرارات الاستراتيجية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>
                <a:solidFill>
                  <a:srgbClr val="F1F5F9"/>
                </a:solidFill>
                <a:latin typeface="Segoe UI"/>
              </a:defRPr>
            </a:pPr>
            <a:r>
              <a:t>إعداد: ريناد ماهر (Renad Maher)  |  مصدر البيانات: مجموعة بيانات Olist الرسمية  |  الفترة الزمنية: 2016 –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أهداف ونطاق المشروع التنفيذي</a:t>
            </a:r>
          </a:p>
          <a:p>
            <a:pPr algn="r"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تحويل 100 ألف معاملة تجارية خام إلى رؤى وقرارات تشغيلية عالية التأثير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🎯 الأهداف الرئيسية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تدقيق ودمج 9 جداول بيانات علائقية مختلفة في قاعدة بيانات موحدة.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استكشاف محركات نمو الإيرادات وذروة الطلب الموسمية والتوزيع الجغرافي.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قياس التحديات اللوجستية وتأثيرها المباشر على تقييمات العملاء.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تسليم ملفات إكسيل تفاعلية، عروض بوربوينت، وتوثيق احترافي. 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🔍 أبعاد التحليل الأساسية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التحليل الزمني: حركة الإيرادات الشهرية، حجم الطلبات، ومتوسط قيمة السلة.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صحة فئات المنتجات: أكثر الفئات توليداً للأرباح ومتوسط تقييم كل فئة.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الأداء الجغرافي: سرعة الشحن وتكلفة الشحن حسب كل ولاية برازيلية.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تجربة العميل: حساسية تقييمات العملاء تجاه فترات التأخير في الشحن. 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📊 مخرجات المشروع المسلمة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المرحلة 1: خط معالجة وتنظيف بيانات آلي بلغة البايثون (clean_and_analyze.py).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المرحلة 2: شيت إكسيل تنفيذي متعدد الصفحات مع مؤشرات الأداء (Dashboard).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المرحلة 3: مستودع كود متكامل على GitHub مع توثيق شامل للـ Portfolio.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المرحلة 4: عرض تقديمي تنفيذي (PowerPoint) ولوحة تفاعلية للويب. 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بنية البيانات وخريطة العلاقات بين الجداول</a:t>
            </a:r>
          </a:p>
          <a:p>
            <a:pPr algn="r"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توحيد وربط 9 جداول علائقية متمحورة حول دورة حياة طلب العميل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🗄️ نظرة عامة على الجداول المصدرية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orders (99,441 سجل): حالات الطلب، الطوابع الزمنية، ومواعيد التوصيل.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order_items (112,650 سجل): أسعار المنتجات، تكاليف الشحن، ومعرفات البائعين.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order_payments (103,886 سجل): طرق الدفع (بطاقات، بوليتو، قسائم) والأقساط.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order_reviews (99,224 سجل): تقييمات العملاء (1-5 نجوم) والتعليقات.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customers (99,441 سجل): المعرفات الفريدة، الرمز البريدي، والمدن والولايات.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sellers (3,095 سجل): مواقع التجار والبائعين في مختلف الولايات.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products (32,951 سجل): مواصفات المنتجات وأبعادها وأوزانها وفئاتها.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translation &amp; geo: ترجمة أسماء الفئات للإنجليزية والإحداثيات الجغرافية. 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🔗 سلامة الربط والعلاقات (Data Joins)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مستوى المعالجة الأساسي: مستوى المنتج داخل الطلب (Order-Item Grain) للحفاظ على دقة الأرقام.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معالجة علاقات One-to-Many: تجميع المدفوعات والتقييمات على مستوى الطلب لتجنب تكرار الصفوف الخاطئ.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إزالة التكرار الجغرافي: تجميع الرموز البريدية جغرافياً لحساب المسافات بدقة.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ربط كامل وشامل: استخدام Left Joins بدءاً من جدول الطلبات لضمان عدم فقدان أي طلب.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نظافة البيانات: صفر صفوف مكررة في الجدول النهائي الموحد. 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تنظيف البيانات وهندسة الميزات (Feature Engineering)</a:t>
            </a:r>
          </a:p>
          <a:p>
            <a:pPr algn="r"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معالجة احترافية للقيم المفقودة واشتقاق مؤشرات الأعمال اللوجستية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🧹 قرارات تنظيف البيانات (Data Cleaning)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استبعاد الأعمدة ذات الفقد المرتفع: تم إسقاط review_comment_title (88.3% فارغ).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التعويض الرقمي (Numeric Imputation): تعويض أوزان وأبعاد المنتجات المفقودة بالوسيط الحسابي (Median).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التعويض النصي: استبدال الفئات المفقودة بالفئة الأكثر تكراراً أو بتصنيف 'غير محدد'.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توحيد التواريخ: تحويل 8 حقول تواريخ إلى صيغة datetime القياسية ومعالجة المناطق الزمنية.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ترجمة الفئات: مطابقة أسماء الفئات البرتغالية بنظيرتها الإنجليزية المنسقة. 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⚙️ المؤشرات الحسابية المشتقة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delivery_time_days: عدد الأيام الفعلية من لحظة الشراء حتى وصول المنتج للعميل (المتوسط = 12.4 يوم).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delivery_delay_days: الفارق بين تاريخ التوصيل الفعلي والتاريخ التقديري (+ = متأخر، - = مبكر).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is_delayed: مؤشر ثنائي ذكي (1 إذا تم التوصيل بعد الموعد التقديري، و 0 في غير ذلك).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total_order_value: السعر الصافي للمنتج مضافاً إليه تكلفة الشحن لكل معاملة.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order_month: تجميع البيانات في سلاسل زمنية شهرية (YYYY-MM) لمتابعة النمو.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تصدير سريع: تم التصدير بصيغة CSV و Parquet لسرعة المعالجة والتحليل. 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الرؤية 1: مسار نمو الإيرادات وطفرة البلاك فرايداي</a:t>
            </a:r>
          </a:p>
          <a:p>
            <a:pPr algn="r"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تضاعفت الإيرادات أكثر من 7 مرات من مطلع 2017 حتى الاستقرار في 2018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371600"/>
            <a:ext cx="46634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📈 قراءة حركة الإيرادات والمبيعات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نمو تصاعدي قوي: ارتفعت الإيرادات الشهرية من 138 ألف ريال برازيلي (يناير 2017) إلى أكثر من 1.16 مليون ريال منتصف 2018.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طفرة البلاك فرايداي (نوفمبر 2017): قفزة قياسية استثنائية (1.19 مليون ريال) بنمو يقارب 100% مقارنة بشهر أكتوبر.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استقرار الأداء في 2018: حافظت المنصة على متوسط مبيعات شهري يتراوح بين 1.0 إلى 1.15 مليون ريال.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ثبات متوسط السلة (AOV): ظل متوسط قيمة الطلب مستقراً بين 155 و 165 ريال برازيلي طوال مراحل التوسع. •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5760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الرؤية 2: التوزيع الجغرافي وحجم الطلب بين الولايات</a:t>
            </a:r>
          </a:p>
          <a:p>
            <a:pPr algn="r"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هيمنة ولاية ساو باولو ومناطق الجنوب الشرقي، وتحديات الشحن بالمناطق النائية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371600"/>
            <a:ext cx="46634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🗺️ الاستقطاب الجغرافي واللوجستيات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هيمنة ساو باولو (SP): تستحوذ بمفردها على أكثر من 42% من إجمالي مبيعات وطلبات المنصة (5.92 مليون ريال).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أعلى 3 ولايات: (SP, RJ, MG) تولد مجتمعة أكثر من 65% من إجمالي مبيعات البرازيل.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تفاوت سرعة الشحن: بينما يصل الطلب لعميل ساو باولو خلال 8.3 أيام، يستغرق التوصيل لولايات الشمال (AM, RR, PA) ما بين 22 إلى 29 يوماً.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فرصة استراتيجية: إنشاء مراكز توزيع إقليمية في الشمال الشرقي يقلل زمن التوصيل بأكثر من 50%. •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5760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الرؤية 3: أثر التأخير اللوجستي على رضا العملاء</a:t>
            </a:r>
          </a:p>
          <a:p>
            <a:pPr algn="r"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تأخير الشحن هو المحرك الأول والأساسي لتقييمات النجمة الواحدة (1-Star)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371600"/>
            <a:ext cx="46634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⭐ تحليل حساسية تقييمات العملاء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رضا مرتفع عند الالتزام: الطلبات التي تصل في الموعد أو قبله تسجل متوسط تقييم ممتاز يبلغ 4.25 من 5.0 نجوم.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هبوط حاد عند التأخير: بمجرد تأخر الشحنة عن موعدها التقديري، ينهار متوسط التقييم فوراً إلى 2.27 من 5.0 نجوم (فقدان 2.0 نجمة كاملة!).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التأخيرات الكبيرة (&gt; 15 يوم): تهبط بالتقييم إلى 1.35 نجمة مع تسجيل أكثر من 85% تقييمات بنجمة واحدة.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الأولوية التنفيذية: حل مشاكل الشحن المتأخر هو أسرع طريق لرفع مؤشر رضا العملاء والولاء. •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5760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لوحة المؤشرات التنفيذية الرئيسية (KPI Dashboard)</a:t>
            </a:r>
          </a:p>
          <a:p>
            <a:pPr algn="r"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مركز القيادة الموحد لمتابعة الأداء التجاري والعمليات التشغيلية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137160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إجمالي الإيرادات</a:t>
            </a:r>
          </a:p>
          <a:p>
            <a:pPr algn="ctr">
              <a:spcBef>
                <a:spcPts val="4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R$ 15.84M</a:t>
            </a:r>
          </a:p>
          <a:p>
            <a:pPr algn="ctr">
              <a:spcBef>
                <a:spcPts val="200"/>
              </a:spcBef>
              <a:defRPr sz="850">
                <a:solidFill>
                  <a:srgbClr val="0D9488"/>
                </a:solidFill>
                <a:latin typeface="Segoe UI"/>
              </a:defRPr>
            </a:pPr>
            <a:r>
              <a:t>قيمة المبيعات + الشحن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الطلبات المكتملة</a:t>
            </a:r>
          </a:p>
          <a:p>
            <a:pPr algn="ctr">
              <a:spcBef>
                <a:spcPts val="4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99,441</a:t>
            </a:r>
          </a:p>
          <a:p>
            <a:pPr algn="ctr">
              <a:spcBef>
                <a:spcPts val="200"/>
              </a:spcBef>
              <a:defRPr sz="850">
                <a:solidFill>
                  <a:srgbClr val="0D9488"/>
                </a:solidFill>
                <a:latin typeface="Segoe UI"/>
              </a:defRPr>
            </a:pPr>
            <a:r>
              <a:t>إجمالي المعاملات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7160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متوسط قيمة الطلب</a:t>
            </a:r>
          </a:p>
          <a:p>
            <a:pPr algn="ctr">
              <a:spcBef>
                <a:spcPts val="4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R$ 159.33</a:t>
            </a:r>
          </a:p>
          <a:p>
            <a:pPr algn="ctr">
              <a:spcBef>
                <a:spcPts val="200"/>
              </a:spcBef>
              <a:defRPr sz="850">
                <a:solidFill>
                  <a:srgbClr val="0D9488"/>
                </a:solidFill>
                <a:latin typeface="Segoe UI"/>
              </a:defRPr>
            </a:pPr>
            <a:r>
              <a:t>AOV لكل سلة تسوق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7160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متوسط زمن التوصيل</a:t>
            </a:r>
          </a:p>
          <a:p>
            <a:pPr algn="ctr">
              <a:spcBef>
                <a:spcPts val="4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12.4 يوم</a:t>
            </a:r>
          </a:p>
          <a:p>
            <a:pPr algn="ctr">
              <a:spcBef>
                <a:spcPts val="200"/>
              </a:spcBef>
              <a:defRPr sz="850">
                <a:solidFill>
                  <a:srgbClr val="0D9488"/>
                </a:solidFill>
                <a:latin typeface="Segoe UI"/>
              </a:defRPr>
            </a:pPr>
            <a:r>
              <a:t>من الشراء حتى الباب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متوسط تقييم العملاء</a:t>
            </a:r>
          </a:p>
          <a:p>
            <a:pPr algn="ctr">
              <a:spcBef>
                <a:spcPts val="4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4.03 / 5.0</a:t>
            </a:r>
          </a:p>
          <a:p>
            <a:pPr algn="ctr">
              <a:spcBef>
                <a:spcPts val="200"/>
              </a:spcBef>
              <a:defRPr sz="850">
                <a:solidFill>
                  <a:srgbClr val="0D9488"/>
                </a:solidFill>
                <a:latin typeface="Segoe UI"/>
              </a:defRPr>
            </a:pPr>
            <a:r>
              <a:t>77% تقييمات 4 و 5 نجوم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51760"/>
            <a:ext cx="5212080" cy="3566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📊 توزيع طرق الدفع وفئات المنتجات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طرق الدفع: البطاقات الائتمانية تسيطر (73.9%)، تليها فواتير بوليتو (19.0%) ثم القسائم (5.5%).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أعلى الفئات مبيعاً: المفروشات والمنزل (1.71M R$)، الصحة والجمال (1.44M R$)، الإلكترونيات (1.58M R$)، والساعات (1.43M R$).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تعدد الأقساط: يعتمد المستهلك البرازيلي على التقسيط بمتوسط 3 إلى 6 أقساط شهرية للمشتريات الكبيرة. 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212080" cy="3566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🖥️ التقارير والأدوات التفاعلية المرفقة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شيت إكسيل تنفيذي: Olist_Ecommerce_Analytics_Report.xlsx يحتوي على تقارير وجداول محورية متقدمة.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عرض تقديمي تفاعلي: presentation.html يعمل مباشرة في المتصفح لاستعراض النتائج تفاعلياً.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سكربت المعالجة الآلي: clean_and_analyze.py يتيح إعادة تشغيل خط التحليل بالكامل بضغطة زر. 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التوصيات وخطة العمل الاستراتيجية للمدراء التنفيذيين</a:t>
            </a:r>
          </a:p>
          <a:p>
            <a:pPr algn="r"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خارطة طريق مبنية على البيانات لتحسين كفاءة الشحن وزيادة الإيرادات وولاء العملاء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🚚 تحسين الكفاءة اللوجستية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لامركزية التخزين: التعاقد مع شركات لوجستية إقليمية (3PL) في الشمال الشرقي لتقليص زمن الشحن بنسبة 40%.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إعادة توجيه شركات الشحن: استبعاد أو مراجعة الشركات اللوجستية التي تتجاوز نسبة تأخيرها 10%.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مواعيد تقديرية ذكية: استخدام خوارزميات ديناميكية لحساب مواعيد التوصيل التقديرية بدقة. 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🛍️ تنمية الفئات ومتوسط السلة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عروض الحزم التسويقية (Bundling): دمج منتجات المفروشات مع الديكور المنزلي لرفع القيمة الإجمالية.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استقطاب تجار الفئات المرتفعة: التوسع في استقطاب بائعي الإلكترونيات والساعات والأجهزة الحديثة.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حملات تقسيط بدون فوائد: إتاحة تقسيط 6-10 أشهر للأجهزة لرفع معدل الشراء والتحويل (Conversion). 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⭐ إدارة تجربة وولاء العملاء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نظام إنذار استباقي للتأخير: إرسال تنبيهات واعتذارات وقسائم خصم تلقائية قبل أن يكتب العميل تقييماً سلبياً.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فرض اتفاقيات مستوى الخدمة (SLA): تطبيق معايير تلزم البائعين بتسليم الطرود للشحن خلال أقل من 48 ساعة.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برنامج ولاء خاص: مكافأة المشترين الدائمين في ساو باولو بمزايا شحن مجاني وسريع. 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شكراً لكم | ملخص مخرجات المشروع</a:t>
            </a:r>
          </a:p>
          <a:p>
            <a:pPr algn="r"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كافة المخرجات والملفات والأكواد موثقة وجاهزة بالكامل للاستخدام والمراجعة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📦 حزمة ملفات المشروع المسلمة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سكربت معالجة البيانات: clean_and_analyze.py (معالجة وتنظيف وحساب المؤشرات).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تقرير الإكسيل التنفيذي: Olist_Ecommerce_Analytics_Report.xlsx (شيت تحليلي مفصل).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العرض التقديمي باللغة الإنجليزية: Olist_Executive_Presentation.pptx (عرض مخصص لأصحاب المصلحة).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العرض التقديمي باللغة العربية: Olist_Executive_Presentation_Arabic.pptx (عرض تنفيذي مترجم بالكامل).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العرض التفاعلي للويب: presentation.html (داشبورد تفاعلي للمتصفح). 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r"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🌐 التوثيق ومستودع GitHub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مستودع المشروع على GitHub: github.com/renadmaher104-cmd/Olist-Ecommerce-Analytics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ملف التوثيق: README.md احترافي يحتوي على شارات التقنيات ومؤشرات الأداء والتوصيات.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جاهزية العرض: المشروع جاهز تماماً للاستعراض في مقابلات العمل ومحافظ الأعمال (Portfolios). •</a:t>
            </a:r>
          </a:p>
          <a:p>
            <a:pPr algn="r">
              <a:spcBef>
                <a:spcPts val="6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حالة المشروع: 100% مكتمل، مدقق، ومُختبر بنجاح. 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